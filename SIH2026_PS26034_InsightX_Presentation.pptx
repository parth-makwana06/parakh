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1B365D"/>
                </a:solidFill>
                <a:latin typeface="Times New Roman"/>
              </a:defRPr>
            </a:pPr>
            <a:r>
              <a:t>SMART INDIA HACKATHON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66960" y="228600"/>
            <a:ext cx="173736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B365D"/>
                </a:solidFill>
              </a:defRPr>
            </a:pPr>
            <a:r>
              <a:t>SMART INDIA</a:t>
            </a:r>
          </a:p>
          <a:p>
            <a:pPr algn="ctr">
              <a:defRPr sz="1100" b="1">
                <a:solidFill>
                  <a:srgbClr val="EA580C"/>
                </a:solidFill>
              </a:defRPr>
            </a:pPr>
            <a:r>
              <a:t>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5156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t>TITLE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69494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300">
                <a:solidFill>
                  <a:srgbClr val="000000"/>
                </a:solidFill>
                <a:latin typeface="Arial"/>
              </a:rPr>
              <a:t>• Problem Statement ID –</a:t>
            </a:r>
            <a:r>
              <a:rPr b="1" sz="1300">
                <a:solidFill>
                  <a:srgbClr val="000000"/>
                </a:solidFill>
                <a:latin typeface="Arial"/>
              </a:rPr>
              <a:t> 26034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00000"/>
                </a:solidFill>
                <a:latin typeface="Arial"/>
              </a:rPr>
              <a:t>• Problem Statement Title-</a:t>
            </a:r>
            <a:r>
              <a:rPr b="0" sz="1300">
                <a:solidFill>
                  <a:srgbClr val="000000"/>
                </a:solidFill>
                <a:latin typeface="Arial"/>
              </a:rPr>
              <a:t> Software System to check compliance of Packaged Commodities under Legal Metrology(Packaged Commodities) Rules, 2011 by scanning products, images and labels.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00000"/>
                </a:solidFill>
                <a:latin typeface="Arial"/>
              </a:rPr>
              <a:t>• Theme-</a:t>
            </a:r>
            <a:r>
              <a:rPr b="1" sz="1300">
                <a:solidFill>
                  <a:srgbClr val="000000"/>
                </a:solidFill>
                <a:latin typeface="Arial"/>
              </a:rPr>
              <a:t> Agriculture, FoodTech &amp; Rural Development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00000"/>
                </a:solidFill>
                <a:latin typeface="Arial"/>
              </a:rPr>
              <a:t>• PS Category- Software/Hardware -</a:t>
            </a:r>
            <a:r>
              <a:rPr b="1" sz="1300">
                <a:solidFill>
                  <a:srgbClr val="000000"/>
                </a:solidFill>
                <a:latin typeface="Arial"/>
              </a:rPr>
              <a:t> Software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00000"/>
                </a:solidFill>
                <a:latin typeface="Arial"/>
              </a:rPr>
              <a:t>• Team ID-</a:t>
            </a:r>
            <a:r>
              <a:rPr b="0" sz="1300">
                <a:solidFill>
                  <a:srgbClr val="000000"/>
                </a:solidFill>
                <a:latin typeface="Arial"/>
              </a:rPr>
              <a:t> [Enter Registered Team ID]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00000"/>
                </a:solidFill>
                <a:latin typeface="Arial"/>
              </a:rPr>
              <a:t>• Team Name (Registered on portal) -</a:t>
            </a:r>
            <a:r>
              <a:rPr b="1" sz="1300">
                <a:solidFill>
                  <a:srgbClr val="1B365D"/>
                </a:solidFill>
                <a:latin typeface="Arial"/>
              </a:rPr>
              <a:t> InsightX</a:t>
            </a:r>
          </a:p>
        </p:txBody>
      </p:sp>
      <p:pic>
        <p:nvPicPr>
          <p:cNvPr id="7" name="Picture 6" descr="sih_bulb_graph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8288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65760" y="182880"/>
            <a:ext cx="1645920" cy="868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B365D"/>
                </a:solidFill>
                <a:latin typeface="Arial"/>
              </a:defRPr>
            </a:pPr>
            <a:r>
              <a:t>InsightX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182880"/>
            <a:ext cx="79552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t>IDEA TITLE: MetrologyLens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49840" y="182880"/>
            <a:ext cx="169164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B365D"/>
                </a:solidFill>
                <a:latin typeface="Arial"/>
              </a:defRPr>
            </a:pPr>
            <a:r>
              <a:t>SMART INDIA</a:t>
            </a:r>
          </a:p>
          <a:p>
            <a:pPr algn="ctr">
              <a:defRPr sz="1000" b="1">
                <a:solidFill>
                  <a:srgbClr val="EA580C"/>
                </a:solidFill>
                <a:latin typeface="Arial"/>
              </a:defRPr>
            </a:pPr>
            <a:r>
              <a:t>HACKATHON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E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@SIH Idea submission- Template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4B8C"/>
                </a:solidFill>
                <a:latin typeface="Arial"/>
              </a:defRPr>
            </a:pPr>
            <a:r>
              <a:t>❖Proposed Solution (Describe your Idea/Solution/Prototype)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b="1" sz="1400">
                <a:solidFill>
                  <a:srgbClr val="000000"/>
                </a:solidFill>
                <a:latin typeface="Arial"/>
              </a:defRPr>
            </a:pPr>
            <a:r>
              <a:t>• Detailed explanation of the proposed solution</a:t>
            </a:r>
          </a:p>
          <a:p>
            <a:pPr>
              <a:spcAft>
                <a:spcPts val="200"/>
              </a:spcAft>
              <a:defRPr sz="1100">
                <a:solidFill>
                  <a:srgbClr val="1E1E1E"/>
                </a:solidFill>
                <a:latin typeface="Arial"/>
              </a:defRPr>
            </a:pPr>
            <a:r>
              <a:t>    – AI-powered mobile and web application for Legal Metrology officers to automatically audit packaged commodities.</a:t>
            </a:r>
          </a:p>
          <a:p>
            <a:pPr>
              <a:spcAft>
                <a:spcPts val="200"/>
              </a:spcAft>
              <a:defRPr sz="1100">
                <a:solidFill>
                  <a:srgbClr val="1E1E1E"/>
                </a:solidFill>
                <a:latin typeface="Arial"/>
              </a:defRPr>
            </a:pPr>
            <a:r>
              <a:t>    – Multi-Angle Label Capture: Ingests Principal Display Panel (PDP), back information panel, and batch/MRP stamps.</a:t>
            </a:r>
          </a:p>
          <a:p>
            <a:pPr>
              <a:spcAft>
                <a:spcPts val="200"/>
              </a:spcAft>
              <a:defRPr sz="1100">
                <a:solidFill>
                  <a:srgbClr val="1E1E1E"/>
                </a:solidFill>
                <a:latin typeface="Arial"/>
              </a:defRPr>
            </a:pPr>
            <a:r>
              <a:t>    – Multilingual OCR Pipeline: Extracts manufacturer address, MRP, Net Qty, dates, and consumer helpline in English, Hindi &amp; regional languages.</a:t>
            </a:r>
          </a:p>
          <a:p>
            <a:pPr>
              <a:spcAft>
                <a:spcPts val="200"/>
              </a:spcAft>
              <a:defRPr sz="1100">
                <a:solidFill>
                  <a:srgbClr val="1E1E1E"/>
                </a:solidFill>
                <a:latin typeface="Arial"/>
              </a:defRPr>
            </a:pPr>
            <a:r>
              <a:t>    – Automated LMPC Rule Validator: Cross-checks extracted data strictly against Legal Metrology Rules, 2011 in &lt; 5 seconds.</a:t>
            </a:r>
          </a:p>
          <a:p>
            <a:pPr>
              <a:spcBef>
                <a:spcPts val="800"/>
              </a:spcBef>
              <a:spcAft>
                <a:spcPts val="300"/>
              </a:spcAft>
              <a:defRPr b="1" sz="1400">
                <a:solidFill>
                  <a:srgbClr val="000000"/>
                </a:solidFill>
                <a:latin typeface="Arial"/>
              </a:defRPr>
            </a:pPr>
            <a:r>
              <a:t>• How it addresses the problem</a:t>
            </a:r>
          </a:p>
          <a:p>
            <a:pPr>
              <a:spcAft>
                <a:spcPts val="200"/>
              </a:spcAft>
              <a:defRPr sz="1100">
                <a:solidFill>
                  <a:srgbClr val="1E1E1E"/>
                </a:solidFill>
                <a:latin typeface="Arial"/>
              </a:defRPr>
            </a:pPr>
            <a:r>
              <a:t>    – Speed &amp; Throughput: Reduces manual inspection time from 15 minutes to under 5 seconds per product (10x enforcement boost).</a:t>
            </a:r>
          </a:p>
          <a:p>
            <a:pPr>
              <a:spcAft>
                <a:spcPts val="200"/>
              </a:spcAft>
              <a:defRPr sz="1100">
                <a:solidFill>
                  <a:srgbClr val="1E1E1E"/>
                </a:solidFill>
                <a:latin typeface="Arial"/>
              </a:defRPr>
            </a:pPr>
            <a:r>
              <a:t>    – Zero Human Oversight: Automatically flags non-standard unit symbols (e.g. 'gm' instead of 'g') and missing 'inclusive of all taxes'.</a:t>
            </a:r>
          </a:p>
          <a:p>
            <a:pPr>
              <a:spcAft>
                <a:spcPts val="200"/>
              </a:spcAft>
              <a:defRPr sz="1100">
                <a:solidFill>
                  <a:srgbClr val="1E1E1E"/>
                </a:solidFill>
                <a:latin typeface="Arial"/>
              </a:defRPr>
            </a:pPr>
            <a:r>
              <a:t>    – Centralized Enforcement Repository: Syncs geo-tagged inspection logs to DoCA portal, tracking repeat offending brands.</a:t>
            </a:r>
          </a:p>
          <a:p>
            <a:pPr>
              <a:spcBef>
                <a:spcPts val="800"/>
              </a:spcBef>
              <a:spcAft>
                <a:spcPts val="300"/>
              </a:spcAft>
              <a:defRPr b="1" sz="1400">
                <a:solidFill>
                  <a:srgbClr val="000000"/>
                </a:solidFill>
                <a:latin typeface="Arial"/>
              </a:defRPr>
            </a:pPr>
            <a:r>
              <a:t>• Innovation and uniqueness of the solution</a:t>
            </a:r>
          </a:p>
          <a:p>
            <a:pPr>
              <a:spcAft>
                <a:spcPts val="200"/>
              </a:spcAft>
              <a:defRPr sz="1100">
                <a:solidFill>
                  <a:srgbClr val="1E1E1E"/>
                </a:solidFill>
                <a:latin typeface="Arial"/>
              </a:defRPr>
            </a:pPr>
            <a:r>
              <a:t>    – Pixel-to-Millimeter Font Calibration: Computer Vision computes exact physical font height (mm) as mandated by Rule 7/Schedule II.</a:t>
            </a:r>
          </a:p>
          <a:p>
            <a:pPr>
              <a:spcAft>
                <a:spcPts val="200"/>
              </a:spcAft>
              <a:defRPr sz="1100">
                <a:solidFill>
                  <a:srgbClr val="1E1E1E"/>
                </a:solidFill>
                <a:latin typeface="Arial"/>
              </a:defRPr>
            </a:pPr>
            <a:r>
              <a:t>    – Dual-Pricing &amp; Sticker Tamper AI: Detects illegal re-stickering or price alteration pasted over original manufacturer MRP (Rule 18).</a:t>
            </a:r>
          </a:p>
          <a:p>
            <a:pPr>
              <a:spcAft>
                <a:spcPts val="200"/>
              </a:spcAft>
              <a:defRPr sz="1100">
                <a:solidFill>
                  <a:srgbClr val="1E1E1E"/>
                </a:solidFill>
                <a:latin typeface="Arial"/>
              </a:defRPr>
            </a:pPr>
            <a:r>
              <a:t>    – Automated Legal Compounding Notice: Auto-drafts court-admissible PDF violation notices quoting specific sections of Legal Metrology Act, 2009.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65760" y="182880"/>
            <a:ext cx="1645920" cy="868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B365D"/>
                </a:solidFill>
                <a:latin typeface="Arial"/>
              </a:defRPr>
            </a:pPr>
            <a:r>
              <a:t>InsightX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182880"/>
            <a:ext cx="79552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t>TECHNICAL APPROACH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49840" y="182880"/>
            <a:ext cx="169164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B365D"/>
                </a:solidFill>
                <a:latin typeface="Arial"/>
              </a:defRPr>
            </a:pPr>
            <a:r>
              <a:t>SMART INDIA</a:t>
            </a:r>
          </a:p>
          <a:p>
            <a:pPr algn="ctr">
              <a:defRPr sz="1000" b="1">
                <a:solidFill>
                  <a:srgbClr val="EA580C"/>
                </a:solidFill>
                <a:latin typeface="Arial"/>
              </a:defRPr>
            </a:pPr>
            <a:r>
              <a:t>HACKATHON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E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@SIH Idea submission- Template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400">
                <a:solidFill>
                  <a:srgbClr val="000000"/>
                </a:solidFill>
                <a:latin typeface="Arial"/>
              </a:defRPr>
            </a:pPr>
            <a:r>
              <a:t>• Technologies to be used (e.g. programming languages, frameworks, hardware)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1B365D"/>
                </a:solidFill>
                <a:latin typeface="Arial"/>
              </a:rPr>
              <a:t>    – Mobile &amp; Web Frontend: </a:t>
            </a:r>
            <a:r>
              <a:rPr sz="1050">
                <a:solidFill>
                  <a:srgbClr val="1E1E1E"/>
                </a:solidFill>
                <a:latin typeface="Arial"/>
              </a:rPr>
              <a:t>Flutter (Android/iOS offline-first inspector app) + React.js / TailwindCSS (Enforcement Web Portal).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1B365D"/>
                </a:solidFill>
                <a:latin typeface="Arial"/>
              </a:rPr>
              <a:t>    – Computer Vision &amp; OCR: </a:t>
            </a:r>
            <a:r>
              <a:rPr sz="1050">
                <a:solidFill>
                  <a:srgbClr val="1E1E1E"/>
                </a:solidFill>
                <a:latin typeface="Arial"/>
              </a:rPr>
              <a:t>OpenCV (Cylindrical unwarping, CLAHE glare removal), PaddleOCR &amp; EasyOCR (Multilingual text extraction), YOLOv8 (Label &amp; Barcode segmentation).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1B365D"/>
                </a:solidFill>
                <a:latin typeface="Arial"/>
              </a:rPr>
              <a:t>    – NLP &amp; Rule Validator: </a:t>
            </a:r>
            <a:r>
              <a:rPr sz="1050">
                <a:solidFill>
                  <a:srgbClr val="1E1E1E"/>
                </a:solidFill>
                <a:latin typeface="Arial"/>
              </a:rPr>
              <a:t>Python (FastAPI), Pydantic, Custom Regex Pipelines, and Gemini-1.5-Flash for structured JSON entity extraction.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1B365D"/>
                </a:solidFill>
                <a:latin typeface="Arial"/>
              </a:rPr>
              <a:t>    – Database &amp; Storage: </a:t>
            </a:r>
            <a:r>
              <a:rPr sz="1050">
                <a:solidFill>
                  <a:srgbClr val="1E1E1E"/>
                </a:solidFill>
                <a:latin typeface="Arial"/>
              </a:rPr>
              <a:t>PostgreSQL + PostGIS (Geo-location tracking of inspections), MinIO / AWS S3 (AES-256 encrypted evidence storage).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1B365D"/>
                </a:solidFill>
                <a:latin typeface="Arial"/>
              </a:rPr>
              <a:t>    – Reporting Engine: </a:t>
            </a:r>
            <a:r>
              <a:rPr sz="1050">
                <a:solidFill>
                  <a:srgbClr val="1E1E1E"/>
                </a:solidFill>
                <a:latin typeface="Arial"/>
              </a:rPr>
              <a:t>ReportLab / WeasyPrint (Automated PDF Notice generation with QR verification), Role-Based Access Control (RBAC).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b="1" sz="1400">
                <a:solidFill>
                  <a:srgbClr val="000000"/>
                </a:solidFill>
                <a:latin typeface="Arial"/>
              </a:defRPr>
            </a:pPr>
            <a:r>
              <a:t>• Methodology and process for implementation (Flow Charts/Images/ working prototype)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1B365D"/>
                </a:solidFill>
                <a:latin typeface="Arial"/>
              </a:rPr>
              <a:t>    ▶ Step 1: Ingestion &amp; Pre-Processing: </a:t>
            </a:r>
            <a:r>
              <a:rPr sz="1050">
                <a:solidFill>
                  <a:srgbClr val="1E1E1E"/>
                </a:solidFill>
                <a:latin typeface="Arial"/>
              </a:rPr>
              <a:t>Capture label multi-angle photos via mobile app or e-commerce listing URL. OpenCV applies deskew, glare removal &amp; cylindrical unwarping.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1B365D"/>
                </a:solidFill>
                <a:latin typeface="Arial"/>
              </a:rPr>
              <a:t>    ▶ Step 2: Multilingual OCR &amp; Layout Parsing: </a:t>
            </a:r>
            <a:r>
              <a:rPr sz="1050">
                <a:solidFill>
                  <a:srgbClr val="1E1E1E"/>
                </a:solidFill>
                <a:latin typeface="Arial"/>
              </a:rPr>
              <a:t>PaddleOCR &amp; YOLOv8 detect text regions and extract raw text across English, Hindi, and regional scripts.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1B365D"/>
                </a:solidFill>
                <a:latin typeface="Arial"/>
              </a:rPr>
              <a:t>    ▶ Step 3: Structured Entity Extraction: </a:t>
            </a:r>
            <a:r>
              <a:rPr sz="1050">
                <a:solidFill>
                  <a:srgbClr val="1E1E1E"/>
                </a:solidFill>
                <a:latin typeface="Arial"/>
              </a:rPr>
              <a:t>Regex and NLP pipelines extract: Manufacturer Address, Net Quantity, MRP, Mfg/Packing Date, and Consumer Care helpline.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1B365D"/>
                </a:solidFill>
                <a:latin typeface="Arial"/>
              </a:rPr>
              <a:t>    ▶ Step 4: LMPC 2011 Rule Engine: </a:t>
            </a:r>
            <a:r>
              <a:rPr sz="1050">
                <a:solidFill>
                  <a:srgbClr val="1E1E1E"/>
                </a:solidFill>
                <a:latin typeface="Arial"/>
              </a:rPr>
              <a:t>Audits extracted data against Legal Metrology Rules: Rule 6 (Mandatory declarations), Rule 7 (Font height in mm), Rule 11 (Standard unit 'g'/'kg'), Rule 18 (MRP formatting).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1B365D"/>
                </a:solidFill>
                <a:latin typeface="Arial"/>
              </a:rPr>
              <a:t>    ▶ Step 5: Notice Generation &amp; Sync: </a:t>
            </a:r>
            <a:r>
              <a:rPr sz="1050">
                <a:solidFill>
                  <a:srgbClr val="1E1E1E"/>
                </a:solidFill>
                <a:latin typeface="Arial"/>
              </a:rPr>
              <a:t>Generates instant tamper-proof PDF Legal Notice with red violation boxes; synchronizes records to Central DoCA Dashboard.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65760" y="182880"/>
            <a:ext cx="1645920" cy="868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B365D"/>
                </a:solidFill>
                <a:latin typeface="Arial"/>
              </a:defRPr>
            </a:pPr>
            <a:r>
              <a:t>InsightX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182880"/>
            <a:ext cx="79552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t>FEASIBILITY AND VIABILITY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49840" y="182880"/>
            <a:ext cx="169164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B365D"/>
                </a:solidFill>
                <a:latin typeface="Arial"/>
              </a:defRPr>
            </a:pPr>
            <a:r>
              <a:t>SMART INDIA</a:t>
            </a:r>
          </a:p>
          <a:p>
            <a:pPr algn="ctr">
              <a:defRPr sz="1000" b="1">
                <a:solidFill>
                  <a:srgbClr val="EA580C"/>
                </a:solidFill>
                <a:latin typeface="Arial"/>
              </a:defRPr>
            </a:pPr>
            <a:r>
              <a:t>HACKATHON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E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@SIH Idea submission- Template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b="1" sz="1400">
                <a:solidFill>
                  <a:srgbClr val="000000"/>
                </a:solidFill>
                <a:latin typeface="Arial"/>
              </a:defRPr>
            </a:pPr>
            <a:r>
              <a:t>• Analysis of the feasibility of the idea</a:t>
            </a:r>
          </a:p>
          <a:p>
            <a:pPr>
              <a:spcAft>
                <a:spcPts val="200"/>
              </a:spcAft>
              <a:defRPr sz="1100">
                <a:solidFill>
                  <a:srgbClr val="1E1E1E"/>
                </a:solidFill>
                <a:latin typeface="Arial"/>
              </a:defRPr>
            </a:pPr>
            <a:r>
              <a:t>    – Technical Feasibility: Built on production-ready, open-source AI frameworks (OpenCV, PaddleOCR, FastAPI) with &lt; 5s inference latency.</a:t>
            </a:r>
          </a:p>
          <a:p>
            <a:pPr>
              <a:spcAft>
                <a:spcPts val="200"/>
              </a:spcAft>
              <a:defRPr sz="1100">
                <a:solidFill>
                  <a:srgbClr val="1E1E1E"/>
                </a:solidFill>
                <a:latin typeface="Arial"/>
              </a:defRPr>
            </a:pPr>
            <a:r>
              <a:t>    – Hardware Viability: Requires zero specialized scanning hardware; operates entirely on existing low-to-mid range Android smartphones used by field officers.</a:t>
            </a:r>
          </a:p>
          <a:p>
            <a:pPr>
              <a:spcAft>
                <a:spcPts val="200"/>
              </a:spcAft>
              <a:defRPr sz="1100">
                <a:solidFill>
                  <a:srgbClr val="1E1E1E"/>
                </a:solidFill>
                <a:latin typeface="Arial"/>
              </a:defRPr>
            </a:pPr>
            <a:r>
              <a:t>    – Operational Scalability: Modular cloud microservices architecture scales easily from municipal squads to nationwide DoCA deployments.</a:t>
            </a:r>
          </a:p>
          <a:p>
            <a:pPr>
              <a:spcBef>
                <a:spcPts val="800"/>
              </a:spcBef>
              <a:spcAft>
                <a:spcPts val="300"/>
              </a:spcAft>
              <a:defRPr b="1" sz="1400">
                <a:solidFill>
                  <a:srgbClr val="000000"/>
                </a:solidFill>
                <a:latin typeface="Arial"/>
              </a:defRPr>
            </a:pPr>
            <a:r>
              <a:t>• Potential challenges and risks</a:t>
            </a:r>
          </a:p>
          <a:p>
            <a:pPr>
              <a:spcAft>
                <a:spcPts val="200"/>
              </a:spcAft>
              <a:defRPr sz="1100">
                <a:solidFill>
                  <a:srgbClr val="1E1E1E"/>
                </a:solidFill>
                <a:latin typeface="Arial"/>
              </a:defRPr>
            </a:pPr>
            <a:r>
              <a:t>    – Packaging Distortions &amp; Reflection: Curved beverage bottles, reflective metallic pouches, and crinkled plastic packets causing OCR read errors.</a:t>
            </a:r>
          </a:p>
          <a:p>
            <a:pPr>
              <a:spcAft>
                <a:spcPts val="200"/>
              </a:spcAft>
              <a:defRPr sz="1100">
                <a:solidFill>
                  <a:srgbClr val="1E1E1E"/>
                </a:solidFill>
                <a:latin typeface="Arial"/>
              </a:defRPr>
            </a:pPr>
            <a:r>
              <a:t>    – Measuring Physical Font Height in 2D: Calculating real-world millimeter font height from 2D photos without manual physical rulers.</a:t>
            </a:r>
          </a:p>
          <a:p>
            <a:pPr>
              <a:spcAft>
                <a:spcPts val="200"/>
              </a:spcAft>
              <a:defRPr sz="1100">
                <a:solidFill>
                  <a:srgbClr val="1E1E1E"/>
                </a:solidFill>
                <a:latin typeface="Arial"/>
              </a:defRPr>
            </a:pPr>
            <a:r>
              <a:t>    – Poor Connectivity in Rural Mandis: Field inspections in remote wholesale godowns and rural retail shops with intermittent internet access.</a:t>
            </a:r>
          </a:p>
          <a:p>
            <a:pPr>
              <a:spcBef>
                <a:spcPts val="800"/>
              </a:spcBef>
              <a:spcAft>
                <a:spcPts val="300"/>
              </a:spcAft>
              <a:defRPr b="1" sz="1400">
                <a:solidFill>
                  <a:srgbClr val="000000"/>
                </a:solidFill>
                <a:latin typeface="Arial"/>
              </a:defRPr>
            </a:pPr>
            <a:r>
              <a:t>• Strategies for overcoming these challenges</a:t>
            </a:r>
          </a:p>
          <a:p>
            <a:pPr>
              <a:spcAft>
                <a:spcPts val="200"/>
              </a:spcAft>
              <a:defRPr sz="1100">
                <a:solidFill>
                  <a:srgbClr val="1E1E1E"/>
                </a:solidFill>
                <a:latin typeface="Arial"/>
              </a:defRPr>
            </a:pPr>
            <a:r>
              <a:t>    – Cylindrical Unwarping &amp; Glare Filters: OpenCV adaptive CLAHE thresholding neutralizes glare; geometric projection algorithms flatten 3D curved surfaces.</a:t>
            </a:r>
          </a:p>
          <a:p>
            <a:pPr>
              <a:spcAft>
                <a:spcPts val="200"/>
              </a:spcAft>
              <a:defRPr sz="1100">
                <a:solidFill>
                  <a:srgbClr val="1E1E1E"/>
                </a:solidFill>
                <a:latin typeface="Arial"/>
              </a:defRPr>
            </a:pPr>
            <a:r>
              <a:t>    – Reference Scale Calibration: Computes physical mm font height using standard barcode dimensional references and camera focal length metadata.</a:t>
            </a:r>
          </a:p>
          <a:p>
            <a:pPr>
              <a:spcAft>
                <a:spcPts val="200"/>
              </a:spcAft>
              <a:defRPr sz="1100">
                <a:solidFill>
                  <a:srgbClr val="1E1E1E"/>
                </a:solidFill>
                <a:latin typeface="Arial"/>
              </a:defRPr>
            </a:pPr>
            <a:r>
              <a:t>    – Offline-First SQLite Edge Queue: Inspector app executes on-device lightweight OCR offline and auto-syncs inspection logs once network is restored.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65760" y="182880"/>
            <a:ext cx="1645920" cy="868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B365D"/>
                </a:solidFill>
                <a:latin typeface="Arial"/>
              </a:defRPr>
            </a:pPr>
            <a:r>
              <a:t>InsightX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182880"/>
            <a:ext cx="79552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t>IMPACT AND BENEFITS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49840" y="182880"/>
            <a:ext cx="169164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B365D"/>
                </a:solidFill>
                <a:latin typeface="Arial"/>
              </a:defRPr>
            </a:pPr>
            <a:r>
              <a:t>SMART INDIA</a:t>
            </a:r>
          </a:p>
          <a:p>
            <a:pPr algn="ctr">
              <a:defRPr sz="1000" b="1">
                <a:solidFill>
                  <a:srgbClr val="EA580C"/>
                </a:solidFill>
                <a:latin typeface="Arial"/>
              </a:defRPr>
            </a:pPr>
            <a:r>
              <a:t>HACKATHON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E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@SIH Idea submission- Template 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b="1" sz="1400">
                <a:solidFill>
                  <a:srgbClr val="000000"/>
                </a:solidFill>
                <a:latin typeface="Arial"/>
              </a:defRPr>
            </a:pPr>
            <a:r>
              <a:t>• Potential impact on the target audience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1B365D"/>
                </a:solidFill>
                <a:latin typeface="Arial"/>
              </a:rPr>
              <a:t>    – Legal Metrology Officers &amp; DoCA: </a:t>
            </a:r>
            <a:r>
              <a:rPr sz="1050">
                <a:solidFill>
                  <a:srgbClr val="1E1E1E"/>
                </a:solidFill>
                <a:latin typeface="Arial"/>
              </a:rPr>
              <a:t>Reduces manual inspection time by 90% (from 15 mins to &lt; 5 secs per SKU). Eliminates court disputes through tamper-proof digital evidence.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1B365D"/>
                </a:solidFill>
                <a:latin typeface="Arial"/>
              </a:rPr>
              <a:t>    – Indian Consumers (1.4 Billion): </a:t>
            </a:r>
            <a:r>
              <a:rPr sz="1050">
                <a:solidFill>
                  <a:srgbClr val="1E1E1E"/>
                </a:solidFill>
                <a:latin typeface="Arial"/>
              </a:rPr>
              <a:t>Guarantees full transparency on pricing, accurate net quantity, clear expiry dates, and accessible consumer grievance helpline details.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1B365D"/>
                </a:solidFill>
                <a:latin typeface="Arial"/>
              </a:rPr>
              <a:t>    – E-Commerce Marketplaces: </a:t>
            </a:r>
            <a:r>
              <a:rPr sz="1050">
                <a:solidFill>
                  <a:srgbClr val="1E1E1E"/>
                </a:solidFill>
                <a:latin typeface="Arial"/>
              </a:rPr>
              <a:t>Enables continuous automated monitoring of third-party product listing images under Rule 6(10) to maintain regulatory compliance.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1B365D"/>
                </a:solidFill>
                <a:latin typeface="Arial"/>
              </a:rPr>
              <a:t>    – FMCG Manufacturers &amp; Importers: </a:t>
            </a:r>
            <a:r>
              <a:rPr sz="1050">
                <a:solidFill>
                  <a:srgbClr val="1E1E1E"/>
                </a:solidFill>
                <a:latin typeface="Arial"/>
              </a:rPr>
              <a:t>Offers a self-audit portal to verify packaging artworks before mass production, avoiding costly product recalls and compounding penalties.</a:t>
            </a:r>
          </a:p>
          <a:p>
            <a:pPr>
              <a:spcBef>
                <a:spcPts val="1000"/>
              </a:spcBef>
              <a:spcAft>
                <a:spcPts val="300"/>
              </a:spcAft>
              <a:defRPr b="1" sz="1400">
                <a:solidFill>
                  <a:srgbClr val="000000"/>
                </a:solidFill>
                <a:latin typeface="Arial"/>
              </a:defRPr>
            </a:pPr>
            <a:r>
              <a:t>• Benefits of the solution (social, economic, environmental, etc.)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1B365D"/>
                </a:solidFill>
                <a:latin typeface="Arial"/>
              </a:rPr>
              <a:t>    – Social &amp; Governance Impact: </a:t>
            </a:r>
            <a:r>
              <a:rPr sz="1050">
                <a:solidFill>
                  <a:srgbClr val="1E1E1E"/>
                </a:solidFill>
                <a:latin typeface="Arial"/>
              </a:rPr>
              <a:t>Upholds consumer rights across urban and rural markets; ensures complete visibility of customer care contacts for rapid grievance redressal.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1B365D"/>
                </a:solidFill>
                <a:latin typeface="Arial"/>
              </a:rPr>
              <a:t>    – Economic Benefits: </a:t>
            </a:r>
            <a:r>
              <a:rPr sz="1050">
                <a:solidFill>
                  <a:srgbClr val="1E1E1E"/>
                </a:solidFill>
                <a:latin typeface="Arial"/>
              </a:rPr>
              <a:t>Plugs tax evasion and dual-MRP malpractices; boosts government penalty recovery and protects citizens from hidden overcharging.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1B365D"/>
                </a:solidFill>
                <a:latin typeface="Arial"/>
              </a:rPr>
              <a:t>    – Environmental Impact: </a:t>
            </a:r>
            <a:r>
              <a:rPr sz="1050">
                <a:solidFill>
                  <a:srgbClr val="1E1E1E"/>
                </a:solidFill>
                <a:latin typeface="Arial"/>
              </a:rPr>
              <a:t>100% paperless digital inspection trail and electronic notice generation, drastically reducing paper waste across state departments.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1B365D"/>
                </a:solidFill>
                <a:latin typeface="Arial"/>
              </a:rPr>
              <a:t>    – Data-Driven Policy Formulation: </a:t>
            </a:r>
            <a:r>
              <a:rPr sz="1050">
                <a:solidFill>
                  <a:srgbClr val="1E1E1E"/>
                </a:solidFill>
                <a:latin typeface="Arial"/>
              </a:rPr>
              <a:t>National dashboard analytics highlight high-violation commodity categories and regional non-compliance hotspots for targeted enforcement.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65760" y="182880"/>
            <a:ext cx="1645920" cy="868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B365D"/>
                </a:solidFill>
                <a:latin typeface="Arial"/>
              </a:defRPr>
            </a:pPr>
            <a:r>
              <a:t>InsightX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182880"/>
            <a:ext cx="79552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t>RESEARCH AND REFERENCES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49840" y="182880"/>
            <a:ext cx="169164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B365D"/>
                </a:solidFill>
                <a:latin typeface="Arial"/>
              </a:defRPr>
            </a:pPr>
            <a:r>
              <a:t>SMART INDIA</a:t>
            </a:r>
          </a:p>
          <a:p>
            <a:pPr algn="ctr">
              <a:defRPr sz="1000" b="1">
                <a:solidFill>
                  <a:srgbClr val="EA580C"/>
                </a:solidFill>
                <a:latin typeface="Arial"/>
              </a:defRPr>
            </a:pPr>
            <a:r>
              <a:t>HACKATHON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E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@SIH Idea submission- Template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400">
                <a:solidFill>
                  <a:srgbClr val="000000"/>
                </a:solidFill>
                <a:latin typeface="Arial"/>
              </a:defRPr>
            </a:pPr>
            <a:r>
              <a:t>• Details / Links of the reference and research work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B365D"/>
                </a:solidFill>
                <a:latin typeface="Arial"/>
              </a:rPr>
              <a:t>    – The Legal Metrology Act, 2009 (Act No. 1 of 2010): </a:t>
            </a:r>
            <a:r>
              <a:rPr sz="1050">
                <a:solidFill>
                  <a:srgbClr val="1E1E1E"/>
                </a:solidFill>
                <a:latin typeface="Arial"/>
              </a:rPr>
              <a:t>Sections 18, 36 &amp; 48 regarding offenses and penalties for non-standard packaged commodities. (Ministry of Consumer Affairs, Food &amp; Public Distribution).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B365D"/>
                </a:solidFill>
                <a:latin typeface="Arial"/>
              </a:rPr>
              <a:t>    – Legal Metrology (Packaged Commodities) Rules, 2011: </a:t>
            </a:r>
            <a:r>
              <a:rPr sz="1050">
                <a:solidFill>
                  <a:srgbClr val="1E1E1E"/>
                </a:solidFill>
                <a:latin typeface="Arial"/>
              </a:rPr>
              <a:t>Rule 6 (Mandatory declarations), Rule 7 &amp; Schedule II (Area &amp; font height specifications), Rule 9 (Manner of declaration), Rule 11 (Standard unit symbols), Rule 18 (MRP compliance).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B365D"/>
                </a:solidFill>
                <a:latin typeface="Arial"/>
              </a:rPr>
              <a:t>    – LMPC (Amendment) Rules, 2021 &amp; 2024: </a:t>
            </a:r>
            <a:r>
              <a:rPr sz="1050">
                <a:solidFill>
                  <a:srgbClr val="1E1E1E"/>
                </a:solidFill>
                <a:latin typeface="Arial"/>
              </a:rPr>
              <a:t>Provisions on E-Commerce marketplace compliance (Rule 6(10)) and Unit Sale Price (USP) declarations.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B365D"/>
                </a:solidFill>
                <a:latin typeface="Arial"/>
              </a:rPr>
              <a:t>    – Department of Consumer Affairs (DoCA) Portal: </a:t>
            </a:r>
            <a:r>
              <a:rPr sz="1050">
                <a:solidFill>
                  <a:srgbClr val="1E1E1E"/>
                </a:solidFill>
                <a:latin typeface="Arial"/>
              </a:rPr>
              <a:t>Official Gazette notifications &amp; Compounding circulars – https://consumeraffairs.gov.in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B365D"/>
                </a:solidFill>
                <a:latin typeface="Arial"/>
              </a:rPr>
              <a:t>    – PaddleOCR: Ultra-Lightweight OCR (Baidu, 2020): </a:t>
            </a:r>
            <a:r>
              <a:rPr sz="1050">
                <a:solidFill>
                  <a:srgbClr val="1E1E1E"/>
                </a:solidFill>
                <a:latin typeface="Arial"/>
              </a:rPr>
              <a:t>Du, Y., et al., 'PaddleOCR: An Ultra Lightweight OCR System' – Fast end-to-end scene text recognition on edge devices.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B365D"/>
                </a:solidFill>
                <a:latin typeface="Arial"/>
              </a:rPr>
              <a:t>    – Document Layout Analysis &amp; Text Extraction (IEEE, 2022): </a:t>
            </a:r>
            <a:r>
              <a:rPr sz="1050">
                <a:solidFill>
                  <a:srgbClr val="1E1E1E"/>
                </a:solidFill>
                <a:latin typeface="Arial"/>
              </a:rPr>
              <a:t>Binmakhashen, G. M., &amp; Zidouri, A., 'Deep Learning for Document Layout Analysis: A Survey', IEEE Access.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B365D"/>
                </a:solidFill>
                <a:latin typeface="Arial"/>
              </a:rPr>
              <a:t>    – Stroke Width Transform (SWT) for Font Height: </a:t>
            </a:r>
            <a:r>
              <a:rPr sz="1050">
                <a:solidFill>
                  <a:srgbClr val="1E1E1E"/>
                </a:solidFill>
                <a:latin typeface="Arial"/>
              </a:rPr>
              <a:t>Epshtein, B., Ofek, E., &amp; Wexler, Y., 'Detecting Text in Natural Scenes with Stroke Width Transform', CVPR.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